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계획 연인원</c:v>
                </c:pt>
              </c:strCache>
            </c:strRef>
          </c:tx>
          <c:spPr>
            <a:solidFill>
              <a:srgbClr val="B7C4D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4월</c:v>
                  </c:pt>
                  <c:pt idx="1">
                    <c:v>5월</c:v>
                  </c:pt>
                  <c:pt idx="2">
                    <c:v>6월</c:v>
                  </c:pt>
                  <c:pt idx="3">
                    <c:v>7월</c:v>
                  </c:pt>
                  <c:pt idx="4">
                    <c:v>8월</c:v>
                  </c:pt>
                  <c:pt idx="5">
                    <c:v>9월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2150</c:v>
                </c:pt>
                <c:pt idx="1">
                  <c:v>2300</c:v>
                </c:pt>
                <c:pt idx="2">
                  <c:v>2420</c:v>
                </c:pt>
                <c:pt idx="3">
                  <c:v>2380</c:v>
                </c:pt>
                <c:pt idx="4">
                  <c:v>2560</c:v>
                </c:pt>
                <c:pt idx="5">
                  <c:v>2684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실적 연인원</c:v>
                </c:pt>
              </c:strCache>
            </c:strRef>
          </c:tx>
          <c:spPr>
            <a:solidFill>
              <a:srgbClr val="12305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Sheet1!$A$2:$A$7</c:f>
              <c:multiLvlStrCache>
                <c:ptCount val="6"/>
                <c:lvl>
                  <c:pt idx="0">
                    <c:v>4월</c:v>
                  </c:pt>
                  <c:pt idx="1">
                    <c:v>5월</c:v>
                  </c:pt>
                  <c:pt idx="2">
                    <c:v>6월</c:v>
                  </c:pt>
                  <c:pt idx="3">
                    <c:v>7월</c:v>
                  </c:pt>
                  <c:pt idx="4">
                    <c:v>8월</c:v>
                  </c:pt>
                  <c:pt idx="5">
                    <c:v>9월</c:v>
                  </c:pt>
                </c:lvl>
              </c:multiLvlStrCache>
            </c:multiLvl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2070</c:v>
                </c:pt>
                <c:pt idx="1">
                  <c:v>2215</c:v>
                </c:pt>
                <c:pt idx="2">
                  <c:v>2350</c:v>
                </c:pt>
                <c:pt idx="3">
                  <c:v>2301</c:v>
                </c:pt>
                <c:pt idx="4">
                  <c:v>2478</c:v>
                </c:pt>
                <c:pt idx="5">
                  <c:v>2518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6B7280"/>
                </a:solidFill>
                <a:latin typeface="Malgun Gothic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5E7EB"/>
              </a:solidFill>
              <a:prstDash val="solid"/>
              <a:round/>
            </a:ln>
          </c:spPr>
        </c:majorGridlines>
        <c:numFmt formatCode="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B7280"/>
                </a:solidFill>
                <a:latin typeface="Malgun Gothic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>
              <a:latin typeface="Malgun Gothic"/>
              <a:cs typeface="Malgun Gothic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3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035040" y="-822960"/>
            <a:ext cx="4206240" cy="4206240"/>
          </a:xfrm>
          <a:prstGeom prst="ellipse">
            <a:avLst/>
          </a:prstGeom>
          <a:solidFill>
            <a:srgbClr val="1E8C7E">
              <a:alpha val="65000"/>
            </a:srgbClr>
          </a:solidFill>
          <a:ln w="12700">
            <a:solidFill>
              <a:srgbClr val="1E8C7E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223760" y="2377440"/>
            <a:ext cx="2926080" cy="2926080"/>
          </a:xfrm>
          <a:prstGeom prst="ellipse">
            <a:avLst/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669280" y="3200400"/>
            <a:ext cx="457200" cy="457200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457200" y="9144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9FD8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BUSINESS PROPOSAL  ·  인력공급 제안서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325880"/>
            <a:ext cx="576072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8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대성섬유 VN 귀중</a:t>
            </a:r>
            <a:endParaRPr lang="en-US" sz="18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단기 근로자 인력 공급 제안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457200" y="278892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FD8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필요한 날, 필요한 인원을 정확하게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457200" y="40233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2026-10-01  |  홍길동 영업팀장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ABOUT US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회사 소개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12344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Công ty TNHH OO HR Việt Nam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554480"/>
            <a:ext cx="3931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베트남 북부·남부 산업단지를 중심으로 제조·물류·식품 고객사에 단기·일용 인력을 공급합니다. 모집부터 교육, 출퇴근, 근태, 정산까지 한 번에 책임지는 운영 파트너입니다.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416052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노동보훈사회부 인력파견 허가 제 000/LĐTBXH-GP (예시)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754880" y="1234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892040" y="14904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12,000+</a:t>
            </a:r>
            <a:endParaRPr lang="en-US" sz="2400" dirty="0"/>
          </a:p>
        </p:txBody>
      </p:sp>
      <p:sp>
        <p:nvSpPr>
          <p:cNvPr id="9" name="Text 7"/>
          <p:cNvSpPr txBox="1"/>
          <p:nvPr/>
        </p:nvSpPr>
        <p:spPr>
          <a:xfrm>
            <a:off x="493776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공급 인원(명)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858000" y="123444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995160" y="149047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45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040880" y="210312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거래 고객사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754880" y="27889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892040" y="30449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96.8%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4937760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평균 충원율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858000" y="2788920"/>
            <a:ext cx="1920240" cy="1371600"/>
          </a:xfrm>
          <a:prstGeom prst="roundRect">
            <a:avLst>
              <a:gd name="adj" fmla="val 5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995160" y="3044952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2018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040880" y="3657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설립 연도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UNDERSTANDING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대성섬유 VN의 과제와 해결 방향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1005840" y="1051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현재 과제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4846320" y="1051560"/>
            <a:ext cx="3200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제안 해결 방향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57200" y="1522476"/>
            <a:ext cx="384048" cy="384048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57200" y="152247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005840" y="132588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188720" y="132588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성수기(11~1월) 봉제 라인 인력 30명 부족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1595628"/>
            <a:ext cx="411480" cy="237744"/>
          </a:xfrm>
          <a:prstGeom prst="rightArrow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46320" y="132588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029200" y="132588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숙련자 포함 30명 투입, D-7 사전 명단 제출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57200" y="2391156"/>
            <a:ext cx="384048" cy="384048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57200" y="23911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1005840" y="219456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188720" y="219456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교대 결원으로 생산 차질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297680" y="2464308"/>
            <a:ext cx="411480" cy="237744"/>
          </a:xfrm>
          <a:prstGeom prst="rightArrow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0" y="219456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29200" y="219456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예비 인력 10% 확보, 결원 시 2시간 내 대체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57200" y="3259836"/>
            <a:ext cx="384048" cy="384048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57200" y="32598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1005840" y="3063240"/>
            <a:ext cx="3611880" cy="777240"/>
          </a:xfrm>
          <a:prstGeom prst="roundRect">
            <a:avLst>
              <a:gd name="adj" fmla="val 9412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1188720" y="3063240"/>
            <a:ext cx="3291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교통 문제로 인한 조기 이탈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4297680" y="3332988"/>
            <a:ext cx="411480" cy="237744"/>
          </a:xfrm>
          <a:prstGeom prst="rightArrow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846320" y="3063240"/>
            <a:ext cx="3840480" cy="777240"/>
          </a:xfrm>
          <a:prstGeom prst="roundRect">
            <a:avLst>
              <a:gd name="adj" fmla="val 9412"/>
            </a:avLst>
          </a:prstGeom>
          <a:solidFill>
            <a:srgbClr val="E3F2EF"/>
          </a:solidFill>
          <a:ln w="12700">
            <a:solidFill>
              <a:srgbClr val="E3F2E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029200" y="3063240"/>
            <a:ext cx="3474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자사 버스 운행으로 정시 출근·이탈 방지</a:t>
            </a:r>
            <a:endParaRPr lang="en-US" sz="1200" dirty="0"/>
          </a:p>
        </p:txBody>
      </p:sp>
      <p:sp>
        <p:nvSpPr>
          <p:cNvPr id="27" name="Text 25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SUPPLY PLAN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 공급 계획</a:t>
            </a:r>
            <a:endParaRPr lang="en-US" sz="24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1005840"/>
                <a:gridCol w="1920240"/>
              </a:tblGrid>
              <a:tr h="34747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교대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인원(명)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기간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봉제(숙련)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2026.11 ~ 2027.01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봉제(일반)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주간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2026.11 ~ 2027.01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포장·검사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10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2026.11 ~ 2027.01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합계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2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35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EF3F8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309360" y="1280160"/>
            <a:ext cx="2377440" cy="3108960"/>
          </a:xfrm>
          <a:prstGeom prst="roundRect">
            <a:avLst>
              <a:gd name="adj" fmla="val 3077"/>
            </a:avLst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492240" y="150876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 예정 인원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492240" y="182880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35</a:t>
            </a:r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명</a:t>
            </a:r>
            <a:endParaRPr lang="en-US" sz="48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292608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26일 운영 기준</a:t>
            </a:r>
            <a:endParaRPr lang="en-US" sz="11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9FD8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 연인원 약 910명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OPERATION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운영 프로세스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143000" y="1993392"/>
            <a:ext cx="6858000" cy="0"/>
          </a:xfrm>
          <a:prstGeom prst="line">
            <a:avLst/>
          </a:prstGeom>
          <a:noFill/>
          <a:ln w="25400">
            <a:solidFill>
              <a:srgbClr val="D6DE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86968" y="1737360"/>
            <a:ext cx="512064" cy="512064"/>
          </a:xfrm>
          <a:prstGeom prst="ellipse">
            <a:avLst/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886968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요청 접수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27614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직무·인원·교대·기간 확인 (D-7)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258568" y="1737360"/>
            <a:ext cx="512064" cy="512064"/>
          </a:xfrm>
          <a:prstGeom prst="ellipse">
            <a:avLst/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2258568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187452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모집·선발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1920240" y="27614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인력 풀 + 지역 모집망 가동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30168" y="1737360"/>
            <a:ext cx="512064" cy="512064"/>
          </a:xfrm>
          <a:prstGeom prst="ellipse">
            <a:avLst/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3630168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324612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사전 교육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3291840" y="27614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안전·위생·공정 기본 교육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5001768" y="1737360"/>
            <a:ext cx="512064" cy="512064"/>
          </a:xfrm>
          <a:prstGeom prst="ellipse">
            <a:avLst/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001768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600" dirty="0"/>
          </a:p>
        </p:txBody>
      </p:sp>
      <p:sp>
        <p:nvSpPr>
          <p:cNvPr id="19" name="Text 17"/>
          <p:cNvSpPr txBox="1"/>
          <p:nvPr/>
        </p:nvSpPr>
        <p:spPr>
          <a:xfrm>
            <a:off x="461772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출근·이동</a:t>
            </a:r>
            <a:endParaRPr lang="en-US" sz="1300" dirty="0"/>
          </a:p>
        </p:txBody>
      </p:sp>
      <p:sp>
        <p:nvSpPr>
          <p:cNvPr id="20" name="Text 18"/>
          <p:cNvSpPr txBox="1"/>
          <p:nvPr/>
        </p:nvSpPr>
        <p:spPr>
          <a:xfrm>
            <a:off x="4663440" y="27614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차량/픽업 지점 배정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373368" y="1737360"/>
            <a:ext cx="512064" cy="512064"/>
          </a:xfrm>
          <a:prstGeom prst="ellipse">
            <a:avLst/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373368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598932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관리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6035040" y="27614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상주 관리자·일일 근태 보고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7744968" y="1737360"/>
            <a:ext cx="512064" cy="512064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744968" y="173736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7360920" y="242316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정산·리포트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7406640" y="2761488"/>
            <a:ext cx="1188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월간 계획/실적 리포트 제출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57200" y="37947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85800" y="37947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매일 고객사에 계획/실적(인원·결원·차량 운행)을 공유하고, 매월 달성률·결원 원인·개선안을 리포트로 제출합니다.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COMMUTE SUPPORT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출퇴근 차량 지원 방안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188720"/>
            <a:ext cx="4754880" cy="365760"/>
          </a:xfrm>
          <a:prstGeom prst="roundRect">
            <a:avLst>
              <a:gd name="adj" fmla="val 50000"/>
            </a:avLst>
          </a:prstGeom>
          <a:solidFill>
            <a:srgbClr val="FFF4D6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1188720"/>
            <a:ext cx="4480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A63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 차량지원: 없음 → 당사 운영 제안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457200" y="1783080"/>
            <a:ext cx="475488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차량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29인승 버스 1대 + 16인승 1대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운행 노선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비엔호아 시장 → 공장 (주간 1회 / 야간 1회 왕복)</a:t>
            </a:r>
            <a:endParaRPr lang="en-US" sz="1200" dirty="0"/>
          </a:p>
          <a:p>
            <a:pPr indent="0" marL="0">
              <a:buNone/>
            </a:pPr>
            <a:r>
              <a:rPr lang="en-US" sz="6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차량 비용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1,800,000 VND/일 — 청구단가에 포함 (별도 청구 없음)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7200" y="3703320"/>
            <a:ext cx="4754880" cy="640080"/>
          </a:xfrm>
          <a:prstGeom prst="roundRect">
            <a:avLst>
              <a:gd name="adj" fmla="val 11429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40080" y="3703320"/>
            <a:ext cx="4389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교대별 탑승 명단 관리 · 미탑승자 즉시 연락 · 결원 시 대체 인력 개별 이동까지 당사가 책임 운영합니다.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5577840" y="1188720"/>
            <a:ext cx="3108960" cy="3154680"/>
          </a:xfrm>
          <a:prstGeom prst="roundRect">
            <a:avLst>
              <a:gd name="adj" fmla="val 2353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806440" y="132588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픽업 지점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5989320" y="1828800"/>
            <a:ext cx="0" cy="1133856"/>
          </a:xfrm>
          <a:prstGeom prst="line">
            <a:avLst/>
          </a:prstGeom>
          <a:noFill/>
          <a:ln w="25400">
            <a:solidFill>
              <a:srgbClr val="1E8C7E"/>
            </a:solidFill>
            <a:prstDash val="dash"/>
          </a:ln>
        </p:spPr>
      </p:sp>
      <p:sp>
        <p:nvSpPr>
          <p:cNvPr id="12" name="Shape 10"/>
          <p:cNvSpPr/>
          <p:nvPr/>
        </p:nvSpPr>
        <p:spPr>
          <a:xfrm>
            <a:off x="5897880" y="1737360"/>
            <a:ext cx="182880" cy="182880"/>
          </a:xfrm>
          <a:prstGeom prst="ellipse">
            <a:avLst/>
          </a:prstGeom>
          <a:solidFill>
            <a:srgbClr val="1E8C7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263640" y="1682496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비엔호아 시장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897880" y="2304288"/>
            <a:ext cx="182880" cy="182880"/>
          </a:xfrm>
          <a:prstGeom prst="ellipse">
            <a:avLst/>
          </a:prstGeom>
          <a:solidFill>
            <a:srgbClr val="1E8C7E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63640" y="224942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떤히엡 사거리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897880" y="2871216"/>
            <a:ext cx="182880" cy="182880"/>
          </a:xfrm>
          <a:prstGeom prst="ellipse">
            <a:avLst/>
          </a:prstGeom>
          <a:solidFill>
            <a:srgbClr val="E0A100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6263640" y="281635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공장 정문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QUALITY &amp; COMPLIANCE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품질 관리와 법규 준수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481328"/>
            <a:ext cx="365760" cy="365760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4008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1143000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노동법 준수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1965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근로계약·최저임금·연장근로 한도 준수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68980" y="1280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451860" y="1481328"/>
            <a:ext cx="365760" cy="365760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5186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3954780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보험 가입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3451860" y="1965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사회·의료·실업보험 및 상해보험 가입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80760" y="128016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63640" y="1481328"/>
            <a:ext cx="365760" cy="365760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63640" y="14813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6766560" y="148132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안전 교육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263640" y="196596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투입 전 안전교육 이수 확인서 제출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57200" y="27889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40080" y="2990088"/>
            <a:ext cx="365760" cy="365760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4008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</a:t>
            </a:r>
            <a:endParaRPr lang="en-US" sz="1300" dirty="0"/>
          </a:p>
        </p:txBody>
      </p:sp>
      <p:sp>
        <p:nvSpPr>
          <p:cNvPr id="22" name="Text 20"/>
          <p:cNvSpPr txBox="1"/>
          <p:nvPr/>
        </p:nvSpPr>
        <p:spPr>
          <a:xfrm>
            <a:off x="1143000" y="2990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결원 대체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640080" y="3474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당일 결원 발생 시 2시간 내 대체 투입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68980" y="27889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451860" y="2990088"/>
            <a:ext cx="365760" cy="365760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5186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5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3954780" y="2990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근태 투명성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3451860" y="3474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일일 계획/실적표 공유, 월간 리포트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80760" y="2788920"/>
            <a:ext cx="2606040" cy="1280160"/>
          </a:xfrm>
          <a:prstGeom prst="roundRect">
            <a:avLst>
              <a:gd name="adj" fmla="val 5714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263640" y="2990088"/>
            <a:ext cx="365760" cy="365760"/>
          </a:xfrm>
          <a:prstGeom prst="ellipse">
            <a:avLst/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63640" y="299008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6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6766560" y="2990088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전담 매니저</a:t>
            </a:r>
            <a:endParaRPr lang="en-US" sz="1300" dirty="0"/>
          </a:p>
        </p:txBody>
      </p:sp>
      <p:sp>
        <p:nvSpPr>
          <p:cNvPr id="33" name="Text 31"/>
          <p:cNvSpPr txBox="1"/>
          <p:nvPr/>
        </p:nvSpPr>
        <p:spPr>
          <a:xfrm>
            <a:off x="6263640" y="3474720"/>
            <a:ext cx="2240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고객사별 한국어·베트남어 담당자 배정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TRACK RECORD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최근 공급 실적 (계획 대비 실적)</a:t>
            </a:r>
            <a:endParaRPr lang="en-US" sz="24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1188720"/>
          <a:ext cx="566928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1188720"/>
            <a:ext cx="2286000" cy="1508760"/>
          </a:xfrm>
          <a:prstGeom prst="roundRect">
            <a:avLst>
              <a:gd name="adj" fmla="val 4848"/>
            </a:avLst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583680" y="132588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기간 평균 달성률</a:t>
            </a:r>
            <a:endParaRPr lang="en-US" sz="1100" dirty="0"/>
          </a:p>
        </p:txBody>
      </p:sp>
      <p:sp>
        <p:nvSpPr>
          <p:cNvPr id="7" name="Text 4"/>
          <p:cNvSpPr txBox="1"/>
          <p:nvPr/>
        </p:nvSpPr>
        <p:spPr>
          <a:xfrm>
            <a:off x="6583680" y="1645920"/>
            <a:ext cx="1920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96.1%</a:t>
            </a:r>
            <a:endParaRPr lang="en-US" sz="3600" dirty="0"/>
          </a:p>
        </p:txBody>
      </p:sp>
      <p:sp>
        <p:nvSpPr>
          <p:cNvPr id="8" name="Shape 5"/>
          <p:cNvSpPr/>
          <p:nvPr/>
        </p:nvSpPr>
        <p:spPr>
          <a:xfrm>
            <a:off x="6400800" y="2880360"/>
            <a:ext cx="2286000" cy="1600200"/>
          </a:xfrm>
          <a:prstGeom prst="roundRect">
            <a:avLst>
              <a:gd name="adj" fmla="val 4571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0" y="30175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누적 실적 연인원</a:t>
            </a:r>
            <a:endParaRPr lang="en-US" sz="1100" dirty="0"/>
          </a:p>
        </p:txBody>
      </p:sp>
      <p:sp>
        <p:nvSpPr>
          <p:cNvPr id="10" name="Text 7"/>
          <p:cNvSpPr txBox="1"/>
          <p:nvPr/>
        </p:nvSpPr>
        <p:spPr>
          <a:xfrm>
            <a:off x="6583680" y="3337560"/>
            <a:ext cx="19202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13,932</a:t>
            </a:r>
            <a:endParaRPr lang="en-US" sz="2800" dirty="0"/>
          </a:p>
        </p:txBody>
      </p:sp>
      <p:sp>
        <p:nvSpPr>
          <p:cNvPr id="11" name="Text 8"/>
          <p:cNvSpPr txBox="1"/>
          <p:nvPr/>
        </p:nvSpPr>
        <p:spPr>
          <a:xfrm>
            <a:off x="6583680" y="393192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4월 ~ 9월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QUOTATION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(단가)</a:t>
            </a:r>
            <a:endParaRPr lang="en-US" sz="24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280160"/>
          <a:ext cx="5486400" cy="914400"/>
        </p:xfrm>
        <a:graphic>
          <a:graphicData uri="http://schemas.openxmlformats.org/drawingml/2006/table">
            <a:tbl>
              <a:tblPr/>
              <a:tblGrid>
                <a:gridCol w="1645920"/>
                <a:gridCol w="1554480"/>
                <a:gridCol w="2286000"/>
              </a:tblGrid>
              <a:tr h="384048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직무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단가 (VND/인·일)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포함 항목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305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봉제(숙련)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2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450,000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임금·보험·관리비·차량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봉제(일반)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2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390,000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임금·보험·관리비·차량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포장·검사(야간)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100" b="1" dirty="0">
                          <a:solidFill>
                            <a:srgbClr val="12305B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420,000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F2937"/>
                          </a:solidFill>
                          <a:latin typeface="Malgun Gothic" pitchFamily="34" charset="0"/>
                          <a:ea typeface="Malgun Gothic" pitchFamily="34" charset="-122"/>
                          <a:cs typeface="Malgun Gothic" pitchFamily="34" charset="-120"/>
                        </a:rPr>
                        <a:t>야간수당·보험·관리비·차량</a:t>
                      </a:r>
                      <a:endParaRPr lang="en-US" sz="1100" dirty="0">
                        <a:latin typeface="Malgun Gothic" charset="0"/>
                        <a:ea typeface="Malgun Gothic" charset="0"/>
                        <a:cs typeface="Malgun Gothic" charset="0"/>
                      </a:endParaRPr>
                    </a:p>
                  </a:txBody>
                  <a:tcPr marL="91440" marR="91440" marT="45720" marB="45720" anchor="ctr">
                    <a:lnL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6DE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457200" y="40690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VND / 1인·1일(8시간) 기준, VAT 별도. 연장근로는 노동법 기준 할증 적용.</a:t>
            </a:r>
            <a:endParaRPr lang="en-US" sz="950" dirty="0"/>
          </a:p>
        </p:txBody>
      </p:sp>
      <p:sp>
        <p:nvSpPr>
          <p:cNvPr id="6" name="Shape 3"/>
          <p:cNvSpPr/>
          <p:nvPr/>
        </p:nvSpPr>
        <p:spPr>
          <a:xfrm>
            <a:off x="6309360" y="1280160"/>
            <a:ext cx="2377440" cy="2651760"/>
          </a:xfrm>
          <a:prstGeom prst="roundRect">
            <a:avLst>
              <a:gd name="adj" fmla="val 3077"/>
            </a:avLst>
          </a:prstGeom>
          <a:solidFill>
            <a:srgbClr val="12305B"/>
          </a:solidFill>
          <a:ln w="12700">
            <a:solidFill>
              <a:srgbClr val="12305B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6492240" y="146304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예상 월 비용 (VAT 별도)</a:t>
            </a:r>
            <a:endParaRPr lang="en-US" sz="1100" dirty="0"/>
          </a:p>
        </p:txBody>
      </p:sp>
      <p:sp>
        <p:nvSpPr>
          <p:cNvPr id="8" name="Text 5"/>
          <p:cNvSpPr txBox="1"/>
          <p:nvPr/>
        </p:nvSpPr>
        <p:spPr>
          <a:xfrm>
            <a:off x="6492240" y="1828800"/>
            <a:ext cx="2103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370.5</a:t>
            </a:r>
            <a:endParaRPr lang="en-US" sz="3400" dirty="0"/>
          </a:p>
        </p:txBody>
      </p:sp>
      <p:sp>
        <p:nvSpPr>
          <p:cNvPr id="9" name="Text 6"/>
          <p:cNvSpPr txBox="1"/>
          <p:nvPr/>
        </p:nvSpPr>
        <p:spPr>
          <a:xfrm>
            <a:off x="6492240" y="2468880"/>
            <a:ext cx="2103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백만 VND / 월</a:t>
            </a:r>
            <a:endParaRPr lang="en-US" sz="1300" dirty="0"/>
          </a:p>
        </p:txBody>
      </p:sp>
      <p:sp>
        <p:nvSpPr>
          <p:cNvPr id="10" name="Text 7"/>
          <p:cNvSpPr txBox="1"/>
          <p:nvPr/>
        </p:nvSpPr>
        <p:spPr>
          <a:xfrm>
            <a:off x="6492240" y="301752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9FD8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공급 계획 인원 × 단가 × 월 26일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9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92608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1E8C7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REFERENCES</a:t>
            </a:r>
            <a:endParaRPr lang="en-US" sz="10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50292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공급 사례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5087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85800" y="1508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전자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1645920" y="1481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 전자부품 (박닌)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19385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생산·검사 인력 월 1,100명 공급, 2년째 계약 유지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4709160" y="128016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937760" y="150876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937760" y="150876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봉제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5897880" y="148132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B 섬유 (동나이)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4937760" y="193852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성수기 30명 증원, 자사 셔틀 운행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83464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85800" y="30632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85800" y="3063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물류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645920" y="30358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 물류 (하노이)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685800" y="349300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야간 상하차 18명 상시 운영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3977640" cy="1325880"/>
          </a:xfrm>
          <a:prstGeom prst="roundRect">
            <a:avLst>
              <a:gd name="adj" fmla="val 5517"/>
            </a:avLst>
          </a:prstGeom>
          <a:solidFill>
            <a:srgbClr val="EEF3F8"/>
          </a:solidFill>
          <a:ln w="12700">
            <a:solidFill>
              <a:srgbClr val="EEF3F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937760" y="3063240"/>
            <a:ext cx="822960" cy="292608"/>
          </a:xfrm>
          <a:prstGeom prst="roundRect">
            <a:avLst>
              <a:gd name="adj" fmla="val 50000"/>
            </a:avLst>
          </a:prstGeom>
          <a:solidFill>
            <a:srgbClr val="1E8C7E"/>
          </a:solidFill>
          <a:ln w="12700">
            <a:solidFill>
              <a:srgbClr val="1E8C7E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37760" y="3063240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식품</a:t>
            </a:r>
            <a:endParaRPr lang="en-US" sz="1000" dirty="0"/>
          </a:p>
        </p:txBody>
      </p:sp>
      <p:sp>
        <p:nvSpPr>
          <p:cNvPr id="22" name="Text 20"/>
          <p:cNvSpPr txBox="1"/>
          <p:nvPr/>
        </p:nvSpPr>
        <p:spPr>
          <a:xfrm>
            <a:off x="5897880" y="3035808"/>
            <a:ext cx="2606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305B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D 식품 (빈즈엉)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4937760" y="3493008"/>
            <a:ext cx="3520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2교대 포장 라인 22명, 위생교육 100% 이수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5029200" y="4796028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B728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|  10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2305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66560" y="-1097280"/>
            <a:ext cx="3291840" cy="3291840"/>
          </a:xfrm>
          <a:prstGeom prst="ellipse">
            <a:avLst/>
          </a:prstGeom>
          <a:solidFill>
            <a:srgbClr val="1E8C7E">
              <a:alpha val="60000"/>
            </a:srgbClr>
          </a:solidFill>
          <a:ln w="12700">
            <a:solidFill>
              <a:srgbClr val="1E8C7E">
                <a:alpha val="0"/>
              </a:srgbClr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320040"/>
            <a:ext cx="5486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9FD8C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TERMS &amp; NEXT STEPS</a:t>
            </a:r>
            <a:endParaRPr lang="en-US" sz="10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548640"/>
            <a:ext cx="5943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조건과 다음 단계</a:t>
            </a:r>
            <a:endParaRPr lang="en-US" sz="24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325880"/>
            <a:ext cx="42062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기간: 2026.11.01 ~ 2027.01.31 (연장 가능)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정산: 월말 마감, 익월 10일 계산서 발행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인원 변경: 3일 전 통보 시 추가 비용 없음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E5EEF8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견적 유효기간: 2026.10.31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029200" y="1325880"/>
            <a:ext cx="384048" cy="384048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029200" y="1325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5577840" y="132588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현장 방문 및 공정 확인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029200" y="1892808"/>
            <a:ext cx="384048" cy="384048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029200" y="18928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577840" y="1892808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최종 인원·단가 확정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029200" y="2459736"/>
            <a:ext cx="384048" cy="384048"/>
          </a:xfrm>
          <a:prstGeom prst="ellipse">
            <a:avLst/>
          </a:prstGeom>
          <a:solidFill>
            <a:srgbClr val="E0A100"/>
          </a:solidFill>
          <a:ln w="12700">
            <a:solidFill>
              <a:srgbClr val="E0A1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5029200" y="245973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5577840" y="2459736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체결 및 명단 제출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611880"/>
            <a:ext cx="8229600" cy="960120"/>
          </a:xfrm>
          <a:prstGeom prst="roundRect">
            <a:avLst>
              <a:gd name="adj" fmla="val 7619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FFFFFF">
                <a:alpha val="3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31520" y="361188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3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OO HR Vietnam  홍길동 영업팀장</a:t>
            </a:r>
            <a:endParaRPr lang="en-US" sz="13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00" dirty="0">
                <a:solidFill>
                  <a:srgbClr val="CFE0F2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Tel +84 90 000 0000   ·   Zalo +84 90 000 0000   ·   sales@example.com   ·   Hà Nội, Việt Nam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OO HR Vietnam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대성섬유 VN 인력공급 제안서</dc:title>
  <dc:subject>PptxGenJS Presentation</dc:subject>
  <dc:creator>OO HR Vietnam</dc:creator>
  <cp:lastModifiedBy>OO HR Vietnam</cp:lastModifiedBy>
  <cp:revision>1</cp:revision>
  <dcterms:created xsi:type="dcterms:W3CDTF">2026-09-26T05:19:40Z</dcterms:created>
  <dcterms:modified xsi:type="dcterms:W3CDTF">2026-09-26T05:19:40Z</dcterms:modified>
</cp:coreProperties>
</file>